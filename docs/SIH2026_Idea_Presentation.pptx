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57" r:id="rId3"/>
    <p:sldId id="258" r:id="rId4"/>
    <p:sldId id="29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84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178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601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IHSIH027</a:t>
            </a:r>
          </a:p>
          <a:p>
            <a:pPr marL="285750" indent="-28575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AI-Powered Disaster Early Warning, Impact Assessment and Relief Management System with Blockchain-Based Transparent Tracking of Resources</a:t>
            </a:r>
          </a:p>
          <a:p>
            <a:pPr marL="285750" indent="-28575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Theme- Disaster Management</a:t>
            </a:r>
          </a:p>
          <a:p>
            <a:pPr marL="285750" indent="-28575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optimistic braincells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241DA5-215C-6EDC-5415-E5958BB16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070709"/>
              </p:ext>
            </p:extLst>
          </p:nvPr>
        </p:nvGraphicFramePr>
        <p:xfrm>
          <a:off x="609600" y="1644809"/>
          <a:ext cx="10972800" cy="256032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332093193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870671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837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763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019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948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612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713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57291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B56CF88-41DB-70C4-0147-6EBB3B8C8050}"/>
              </a:ext>
            </a:extLst>
          </p:cNvPr>
          <p:cNvSpPr txBox="1"/>
          <p:nvPr/>
        </p:nvSpPr>
        <p:spPr>
          <a:xfrm>
            <a:off x="2294022" y="804300"/>
            <a:ext cx="7113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AI-Powered Disaster Early Warning, Impact Assessment and Relief Management System</a:t>
            </a:r>
            <a:endParaRPr lang="en-IN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05156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E3B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E3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8E3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Braincells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566737" y="320040"/>
            <a:ext cx="68018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AI-Powered Disaster Early Warning, Impact Assessment and Relief Management System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explanation of the proposed solution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1417320"/>
            <a:ext cx="10881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AI/ML-Based Early Warning: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LSTM/CNN models trained on rainfall, river-gauge, soil-moisture and satellite data forecast floods, landslides and extreme weather events well ahead of impact.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GIS-Based Impact Assessment: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terrain, population and infrastructure layers to instantly map the likely affected area, population at risk and asset exposure.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Requirement Estimation: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quantities of food, medicine, shelter and rescue personnel needed per affected zone using historical and real-time severity data.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Blockchain-Based Transparent Tracking: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allocation and dispatch of relief resources is recorded as an immutable transaction, verifiable by NGOs, government and the public.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3200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problem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35661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Localized Warnings: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response time compared to manual/threshold-based alert systems, giving communities more time to evacuate.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Resource Allocation: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ad-hoc estimation with data-driven relief planning, reducing over-supply in some zones and shortages in others.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Leakage and Mistrust: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records make diversion of relief material visible and auditable, curbing corruption and misinformation.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and uniqueness of the solution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525780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→ Assess → Estimate → Allocate → Track → Verify, unlike point solutions that only warn or only track.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+ Blockchain Design: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drives decision-making while blockchain guarantees the integrity of every downstream action taken on those decisions.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Multi-Hazard, Scalable Framework: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extends to floods, landslides and cyclones and can be adopted by any state disaster authority.</a:t>
            </a:r>
            <a:endParaRPr lang="en-US" sz="11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AEEDE8-907D-8F91-4CA5-29ABB3E9C7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0020"/>
            <a:ext cx="105156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E3B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8E3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</a:p>
          <a:p>
            <a:pPr algn="ctr"/>
            <a:r>
              <a:rPr lang="en-US" sz="1400" b="1" dirty="0">
                <a:solidFill>
                  <a:srgbClr val="8E3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Braincells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806440" y="1051560"/>
            <a:ext cx="0" cy="51206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005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to be Used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Machine Learning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" y="175564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PyTorch: prediction models (LSTM, CNN)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Scikit-learn: classical ML baselines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NumPy: data preprocessing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27797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&amp; Geospatial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" y="307238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/ GeoPandas: impact mapping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&amp; IMD/NASA weather APIs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822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Smart Contracts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5800" y="4114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Solidity: relief-allocation smart contracts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/ Polygon: deployment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web3.py: backend blockchain integration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51389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Dashboard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85800" y="5431536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(FastAPI/Django): backend logic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React: public dashboard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 operational data store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80760" y="10058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and Process for Implementation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72200" y="1600200"/>
            <a:ext cx="3566160" cy="310896"/>
          </a:xfrm>
          <a:prstGeom prst="roundRect">
            <a:avLst>
              <a:gd name="adj" fmla="val 17647"/>
            </a:avLst>
          </a:prstGeom>
          <a:solidFill>
            <a:srgbClr val="8FCB8A"/>
          </a:solidFill>
          <a:ln w="12700">
            <a:solidFill>
              <a:srgbClr val="4C8C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172200" y="16002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3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955280" y="1911096"/>
            <a:ext cx="0" cy="132588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6172200" y="2043684"/>
            <a:ext cx="3566160" cy="310896"/>
          </a:xfrm>
          <a:prstGeom prst="roundRect">
            <a:avLst>
              <a:gd name="adj" fmla="val 17647"/>
            </a:avLst>
          </a:prstGeom>
          <a:solidFill>
            <a:srgbClr val="8FCB8A"/>
          </a:solidFill>
          <a:ln w="12700">
            <a:solidFill>
              <a:srgbClr val="4C8C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172200" y="20436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3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Weather / Sensor / Satellite Data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955280" y="2354580"/>
            <a:ext cx="0" cy="132588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6172200" y="2487168"/>
            <a:ext cx="3566160" cy="310896"/>
          </a:xfrm>
          <a:prstGeom prst="roundRect">
            <a:avLst>
              <a:gd name="adj" fmla="val 17647"/>
            </a:avLst>
          </a:prstGeom>
          <a:solidFill>
            <a:srgbClr val="8FCB8A"/>
          </a:solidFill>
          <a:ln w="12700">
            <a:solidFill>
              <a:srgbClr val="4C8C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172200" y="248716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3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Early Warning Prediction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955280" y="2798064"/>
            <a:ext cx="0" cy="132588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6172200" y="2930652"/>
            <a:ext cx="3566160" cy="310896"/>
          </a:xfrm>
          <a:prstGeom prst="roundRect">
            <a:avLst>
              <a:gd name="adj" fmla="val 17647"/>
            </a:avLst>
          </a:prstGeom>
          <a:solidFill>
            <a:srgbClr val="8FCB8A"/>
          </a:solidFill>
          <a:ln w="12700">
            <a:solidFill>
              <a:srgbClr val="4C8C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172200" y="29306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3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Impact Assessment (GIS)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955280" y="3241548"/>
            <a:ext cx="0" cy="132588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6172200" y="3374136"/>
            <a:ext cx="3566160" cy="310896"/>
          </a:xfrm>
          <a:prstGeom prst="roundRect">
            <a:avLst>
              <a:gd name="adj" fmla="val 17647"/>
            </a:avLst>
          </a:prstGeom>
          <a:solidFill>
            <a:srgbClr val="8FCB8A"/>
          </a:solidFill>
          <a:ln w="12700">
            <a:solidFill>
              <a:srgbClr val="4C8C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6172200" y="33741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3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Relief Requirements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7955280" y="3685032"/>
            <a:ext cx="0" cy="132588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6172200" y="3817620"/>
            <a:ext cx="3566160" cy="310896"/>
          </a:xfrm>
          <a:prstGeom prst="roundRect">
            <a:avLst>
              <a:gd name="adj" fmla="val 17647"/>
            </a:avLst>
          </a:prstGeom>
          <a:solidFill>
            <a:srgbClr val="8FCB8A"/>
          </a:solidFill>
          <a:ln w="12700">
            <a:solidFill>
              <a:srgbClr val="4C8C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6172200" y="38176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3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Allocation to NGOs / Govt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955280" y="4128516"/>
            <a:ext cx="0" cy="132588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6172200" y="4261104"/>
            <a:ext cx="3566160" cy="310896"/>
          </a:xfrm>
          <a:prstGeom prst="roundRect">
            <a:avLst>
              <a:gd name="adj" fmla="val 17647"/>
            </a:avLst>
          </a:prstGeom>
          <a:solidFill>
            <a:srgbClr val="8FCB8A"/>
          </a:solidFill>
          <a:ln w="12700">
            <a:solidFill>
              <a:srgbClr val="4C8C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6172200" y="42611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3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Distribution on Blockchain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7955280" y="4572000"/>
            <a:ext cx="0" cy="132588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6172200" y="4704588"/>
            <a:ext cx="3566160" cy="310896"/>
          </a:xfrm>
          <a:prstGeom prst="roundRect">
            <a:avLst>
              <a:gd name="adj" fmla="val 17647"/>
            </a:avLst>
          </a:prstGeom>
          <a:solidFill>
            <a:srgbClr val="F4C97A"/>
          </a:solidFill>
          <a:ln w="12700">
            <a:solidFill>
              <a:srgbClr val="4C8C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6172200" y="47045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3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Delivery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7955280" y="5015484"/>
            <a:ext cx="0" cy="66294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6355080" y="5081778"/>
            <a:ext cx="1600200" cy="0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7955280" y="5081778"/>
            <a:ext cx="1600200" cy="0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1"/>
          <p:cNvSpPr/>
          <p:nvPr/>
        </p:nvSpPr>
        <p:spPr>
          <a:xfrm>
            <a:off x="6355080" y="5081778"/>
            <a:ext cx="0" cy="66294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2"/>
          <p:cNvSpPr/>
          <p:nvPr/>
        </p:nvSpPr>
        <p:spPr>
          <a:xfrm>
            <a:off x="9555480" y="5081778"/>
            <a:ext cx="0" cy="66294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5852160" y="506349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9189720" y="506349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5440680" y="5148072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8FCB8A"/>
          </a:solidFill>
          <a:ln w="12700">
            <a:solidFill>
              <a:srgbClr val="4C8C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5440680" y="5148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3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Delivery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8641080" y="5148072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1A6A0"/>
          </a:solidFill>
          <a:ln w="12700">
            <a:solidFill>
              <a:srgbClr val="B23B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8641080" y="5148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Discrepancy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6355080" y="5605272"/>
            <a:ext cx="0" cy="292608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0"/>
          <p:cNvSpPr/>
          <p:nvPr/>
        </p:nvSpPr>
        <p:spPr>
          <a:xfrm>
            <a:off x="9555480" y="5605272"/>
            <a:ext cx="0" cy="292608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1"/>
          <p:cNvSpPr/>
          <p:nvPr/>
        </p:nvSpPr>
        <p:spPr>
          <a:xfrm>
            <a:off x="6355080" y="5897880"/>
            <a:ext cx="3200400" cy="0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2"/>
          <p:cNvSpPr/>
          <p:nvPr/>
        </p:nvSpPr>
        <p:spPr>
          <a:xfrm>
            <a:off x="7955280" y="5897880"/>
            <a:ext cx="0" cy="914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3"/>
          <p:cNvSpPr/>
          <p:nvPr/>
        </p:nvSpPr>
        <p:spPr>
          <a:xfrm>
            <a:off x="7955280" y="5897880"/>
            <a:ext cx="0" cy="146304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4"/>
          <p:cNvSpPr/>
          <p:nvPr/>
        </p:nvSpPr>
        <p:spPr>
          <a:xfrm>
            <a:off x="7360920" y="6044184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8FCB8A"/>
          </a:solidFill>
          <a:ln w="12700">
            <a:solidFill>
              <a:srgbClr val="4C8C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5"/>
          <p:cNvSpPr/>
          <p:nvPr/>
        </p:nvSpPr>
        <p:spPr>
          <a:xfrm>
            <a:off x="7360920" y="60441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3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11643055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B7C18A9-AEC2-A303-C2E2-0989FE0107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05156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E3B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33832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8E3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</a:p>
          <a:p>
            <a:pPr algn="ctr"/>
            <a:r>
              <a:rPr lang="en-US" sz="1400" b="1" dirty="0">
                <a:solidFill>
                  <a:srgbClr val="8E3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Braincells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137160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●"/>
            </a:pPr>
            <a:r>
              <a:rPr lang="en-US" sz="1250" b="1" dirty="0">
                <a:solidFill>
                  <a:srgbClr val="222222"/>
                </a:solidFill>
              </a:rPr>
              <a:t>Technical Feasibility:</a:t>
            </a:r>
            <a:endParaRPr lang="en-US" sz="1250" dirty="0"/>
          </a:p>
          <a:p>
            <a:pPr marL="355600" lvl="1" indent="-177800">
              <a:lnSpc>
                <a:spcPct val="10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Availability: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weather feeds, ISRO/NASA satellite imagery, NDMA hazard datasets and IoT sensor networks provide the inputs needed for training and inference.</a:t>
            </a:r>
            <a:endParaRPr lang="en-US" sz="1250" dirty="0"/>
          </a:p>
          <a:p>
            <a:pPr marL="355600" lvl="1" indent="-177800">
              <a:lnSpc>
                <a:spcPct val="10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Complexity: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LSTM/CNN forecasting and GIS-based impact models are well-established and feasible on current cloud infrastructure.</a:t>
            </a:r>
            <a:endParaRPr lang="en-US" sz="1250" dirty="0"/>
          </a:p>
          <a:p>
            <a:pPr marL="355600" lvl="1" indent="-177800">
              <a:lnSpc>
                <a:spcPct val="10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microservice design allows the warning, assessment and blockchain modules to be combined or upgraded independently.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●"/>
            </a:pPr>
            <a:r>
              <a:rPr lang="en-US" sz="1250" b="1" dirty="0">
                <a:solidFill>
                  <a:srgbClr val="222222"/>
                </a:solidFill>
              </a:rPr>
              <a:t>Economic Feasibility:</a:t>
            </a:r>
            <a:endParaRPr lang="en-US" sz="1250" dirty="0"/>
          </a:p>
          <a:p>
            <a:pPr marL="355600" lvl="1" indent="-177800">
              <a:lnSpc>
                <a:spcPct val="10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Costs: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Moderate, driven by cloud compute and satellite data access; manageable using existing government cloud infrastructure.</a:t>
            </a:r>
            <a:endParaRPr lang="en-US" sz="1250" dirty="0"/>
          </a:p>
          <a:p>
            <a:pPr marL="355600" lvl="1" indent="-177800">
              <a:lnSpc>
                <a:spcPct val="100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Costs: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model retraining and blockchain node upkeep are required, but are offset by reduced relief misallocation.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3611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3950208"/>
            <a:ext cx="10881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●"/>
            </a:pPr>
            <a:r>
              <a:rPr lang="en-US" sz="1250" b="1" dirty="0">
                <a:solidFill>
                  <a:srgbClr val="222222"/>
                </a:solidFill>
              </a:rPr>
              <a:t>Impact:</a:t>
            </a:r>
            <a:endParaRPr lang="en-US" sz="1250" dirty="0"/>
          </a:p>
          <a:p>
            <a:pPr marL="355600" lvl="1" indent="-177800">
              <a:lnSpc>
                <a:spcPct val="100000"/>
              </a:lnSpc>
              <a:spcAft>
                <a:spcPts val="300"/>
              </a:spcAft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Saved: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Earlier, localized warnings give communities more time to evacuate, reducing casualties.</a:t>
            </a:r>
            <a:endParaRPr lang="en-US" sz="1250" dirty="0"/>
          </a:p>
          <a:p>
            <a:pPr marL="355600" lvl="1" indent="-177800">
              <a:lnSpc>
                <a:spcPct val="100000"/>
              </a:lnSpc>
              <a:spcAft>
                <a:spcPts val="300"/>
              </a:spcAft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Relief: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estimation prevents over-supply in some zones and shortages in others.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●"/>
            </a:pPr>
            <a:r>
              <a:rPr lang="en-US" sz="1250" b="1" dirty="0">
                <a:solidFill>
                  <a:srgbClr val="222222"/>
                </a:solidFill>
              </a:rPr>
              <a:t>Scalability:</a:t>
            </a:r>
            <a:endParaRPr lang="en-US" sz="1250" dirty="0"/>
          </a:p>
          <a:p>
            <a:pPr marL="355600" lvl="1" indent="-177800">
              <a:lnSpc>
                <a:spcPct val="100000"/>
              </a:lnSpc>
              <a:spcAft>
                <a:spcPts val="300"/>
              </a:spcAft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edge deployment support scaling across states and hazard types.</a:t>
            </a:r>
            <a:endParaRPr lang="en-US" sz="1250" dirty="0"/>
          </a:p>
          <a:p>
            <a:pPr marL="355600" lvl="1" indent="-177800">
              <a:lnSpc>
                <a:spcPct val="100000"/>
              </a:lnSpc>
              <a:spcAft>
                <a:spcPts val="300"/>
              </a:spcAft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Adaptability: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hazards and regions can be onboarded by retraining modular AI components.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●"/>
            </a:pPr>
            <a:r>
              <a:rPr lang="en-US" sz="1250" b="1" dirty="0">
                <a:solidFill>
                  <a:srgbClr val="222222"/>
                </a:solidFill>
              </a:rPr>
              <a:t>Sustainability:</a:t>
            </a:r>
            <a:endParaRPr lang="en-US" sz="1250" dirty="0"/>
          </a:p>
          <a:p>
            <a:pPr marL="355600" lvl="1" indent="-177800">
              <a:lnSpc>
                <a:spcPct val="100000"/>
              </a:lnSpc>
              <a:spcAft>
                <a:spcPts val="300"/>
              </a:spcAft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Benefits: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framework across disaster types, integrable with NDMA/SDMA systems for lasting value.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0" y="6473952"/>
            <a:ext cx="11643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AF05F8-7262-57AF-9091-02EBF6968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05156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E3B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369289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8E3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</a:p>
          <a:p>
            <a:pPr algn="ctr"/>
            <a:r>
              <a:rPr lang="en-US" sz="1400" b="1" dirty="0">
                <a:solidFill>
                  <a:srgbClr val="8E3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Braincells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150876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2222"/>
                </a:solidFill>
              </a:rPr>
              <a:t>1. Faster Response: </a:t>
            </a:r>
            <a:r>
              <a:rPr lang="en-US" sz="1300" dirty="0">
                <a:solidFill>
                  <a:srgbClr val="222222"/>
                </a:solidFill>
              </a:rPr>
              <a:t>Earlier AI-driven alerts give communities more time to evacuate, reducing casualties and loss of property.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16712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2222"/>
                </a:solidFill>
              </a:rPr>
              <a:t>2. Optimized Relief Allocation: </a:t>
            </a:r>
            <a:r>
              <a:rPr lang="en-US" sz="1300" dirty="0">
                <a:solidFill>
                  <a:srgbClr val="222222"/>
                </a:solidFill>
              </a:rPr>
              <a:t>Data-driven impact assessment ensures food, medicine and shelter reach the areas that need them most.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282549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2222"/>
                </a:solidFill>
              </a:rPr>
              <a:t>3. Transparent Governance: </a:t>
            </a:r>
            <a:r>
              <a:rPr lang="en-US" sz="1300" dirty="0">
                <a:solidFill>
                  <a:srgbClr val="222222"/>
                </a:solidFill>
              </a:rPr>
              <a:t>Blockchain-based tracking builds public and donor trust by making relief distribution fully auditable.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362102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the Solution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398678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2222"/>
                </a:solidFill>
              </a:rPr>
              <a:t>1. Reduced Leakage: </a:t>
            </a:r>
            <a:r>
              <a:rPr lang="en-US" sz="1300" dirty="0">
                <a:solidFill>
                  <a:srgbClr val="222222"/>
                </a:solidFill>
              </a:rPr>
              <a:t>Immutable blockchain records reduce diversion and corruption in relief supply chains.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464515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2222"/>
                </a:solidFill>
              </a:rPr>
              <a:t>2. Scalable Across Hazards: </a:t>
            </a:r>
            <a:r>
              <a:rPr lang="en-US" sz="1300" dirty="0">
                <a:solidFill>
                  <a:srgbClr val="222222"/>
                </a:solidFill>
              </a:rPr>
              <a:t>The same pipeline adapts to floods, landslides, cyclones and other extreme weather events.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530352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2222"/>
                </a:solidFill>
              </a:rPr>
              <a:t>3. Data-Driven Policy: </a:t>
            </a:r>
            <a:r>
              <a:rPr lang="en-US" sz="1300" dirty="0">
                <a:solidFill>
                  <a:srgbClr val="222222"/>
                </a:solidFill>
              </a:rPr>
              <a:t>Aggregated disaster data supports better long-term planning by NDMA/SDMA and local authorities.</a:t>
            </a:r>
            <a:endParaRPr lang="en-US" sz="13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CCB04B-429E-7855-CDA9-A6B6691FC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05156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E3B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33832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8E3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</a:p>
          <a:p>
            <a:pPr algn="ctr"/>
            <a:r>
              <a:rPr lang="en-US" sz="1400" b="1" dirty="0">
                <a:solidFill>
                  <a:srgbClr val="8E3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Braincells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/ Links of the reference and research work: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"Flood Prediction Using Machine Learning Models: Literature Review" — Mosavi, Ozturk &amp; Chau, Water, 2018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https://doi.org/10.3390/w10111536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4360" y="19385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machine-learning approaches to flood forecasting, informing the design of the AI early-warning prediction module.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24505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"The Role of Artificial Intelligence for Early Warning Systems: Status, Applicability, Guardrails, and Ways Forward"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27706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https://pmc.ncbi.nlm.nih.gov/articles/PMC12637242/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" y="3017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classical ML and deep-learning methods applied to flood, earthquake and landslide early warning systems.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4360" y="3529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"Blockchain-Envisioned Disaster Relief Networks: Architecture, Opportunities, and Open Issues"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" y="384962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https://arxiv.org/html/2310.05180v1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4360" y="40965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 blockchain-based architecture with smart contracts for transparent, traceable disaster relief supply chains.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4360" y="460857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"Exploring Blockchain for Disaster Prevention and Relief: A Comprehensive Framework Based on Industry Case Studies"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" y="492861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https://www.researchgate.net/publication/370787774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94360" y="51755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how consortium blockchains enable real-time, transparent data sharing among humanitarian supply-chain stakeholders.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0" y="6473952"/>
            <a:ext cx="11643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643055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0B46588-6528-C2DD-3F7C-43DDC3294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7533</TotalTime>
  <Words>1052</Words>
  <Application>Microsoft Office PowerPoint</Application>
  <PresentationFormat>Widescreen</PresentationFormat>
  <Paragraphs>114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Cambria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CHIRANTHAN PADMSHALI</cp:lastModifiedBy>
  <cp:revision>152</cp:revision>
  <dcterms:created xsi:type="dcterms:W3CDTF">2013-12-12T18:46:50Z</dcterms:created>
  <dcterms:modified xsi:type="dcterms:W3CDTF">2026-08-17T19:12:37Z</dcterms:modified>
  <cp:category/>
</cp:coreProperties>
</file>